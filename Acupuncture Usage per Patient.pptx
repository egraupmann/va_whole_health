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A2EC3B-5B84-4359-A134-8756853E9DBF}" v="11" dt="2026-08-19T16:40:48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100" d="100"/>
          <a:sy n="100" d="100"/>
        </p:scale>
        <p:origin x="81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upmann, Evan T. (The Mitre Corporation)" userId="c365d081-cef7-418b-a482-27450d324d33" providerId="ADAL" clId="{DB92BFBF-A000-4592-BF19-6CF3F69F0999}"/>
    <pc:docChg chg="undo custSel addSld delSld modSld">
      <pc:chgData name="Graupmann, Evan T. (The Mitre Corporation)" userId="c365d081-cef7-418b-a482-27450d324d33" providerId="ADAL" clId="{DB92BFBF-A000-4592-BF19-6CF3F69F0999}" dt="2026-08-19T16:42:06.115" v="1149" actId="20577"/>
      <pc:docMkLst>
        <pc:docMk/>
      </pc:docMkLst>
      <pc:sldChg chg="addSp modSp mod">
        <pc:chgData name="Graupmann, Evan T. (The Mitre Corporation)" userId="c365d081-cef7-418b-a482-27450d324d33" providerId="ADAL" clId="{DB92BFBF-A000-4592-BF19-6CF3F69F0999}" dt="2026-08-19T15:39:47.493" v="756" actId="20577"/>
        <pc:sldMkLst>
          <pc:docMk/>
          <pc:sldMk cId="3320952764" sldId="259"/>
        </pc:sldMkLst>
        <pc:spChg chg="mod">
          <ac:chgData name="Graupmann, Evan T. (The Mitre Corporation)" userId="c365d081-cef7-418b-a482-27450d324d33" providerId="ADAL" clId="{DB92BFBF-A000-4592-BF19-6CF3F69F0999}" dt="2026-08-19T15:09:40.553" v="355" actId="20577"/>
          <ac:spMkLst>
            <pc:docMk/>
            <pc:sldMk cId="3320952764" sldId="259"/>
            <ac:spMk id="2" creationId="{753C1866-7220-8C6D-479D-B85F561B15B0}"/>
          </ac:spMkLst>
        </pc:spChg>
        <pc:spChg chg="add mod">
          <ac:chgData name="Graupmann, Evan T. (The Mitre Corporation)" userId="c365d081-cef7-418b-a482-27450d324d33" providerId="ADAL" clId="{DB92BFBF-A000-4592-BF19-6CF3F69F0999}" dt="2026-08-19T15:39:47.493" v="756" actId="20577"/>
          <ac:spMkLst>
            <pc:docMk/>
            <pc:sldMk cId="3320952764" sldId="259"/>
            <ac:spMk id="11" creationId="{2E691612-39B4-9045-7C90-1D197E8A4EB2}"/>
          </ac:spMkLst>
        </pc:spChg>
      </pc:sldChg>
      <pc:sldChg chg="addSp modSp new mod">
        <pc:chgData name="Graupmann, Evan T. (The Mitre Corporation)" userId="c365d081-cef7-418b-a482-27450d324d33" providerId="ADAL" clId="{DB92BFBF-A000-4592-BF19-6CF3F69F0999}" dt="2026-08-19T15:44:36.418" v="881" actId="1076"/>
        <pc:sldMkLst>
          <pc:docMk/>
          <pc:sldMk cId="4123072509" sldId="260"/>
        </pc:sldMkLst>
        <pc:spChg chg="mod">
          <ac:chgData name="Graupmann, Evan T. (The Mitre Corporation)" userId="c365d081-cef7-418b-a482-27450d324d33" providerId="ADAL" clId="{DB92BFBF-A000-4592-BF19-6CF3F69F0999}" dt="2026-08-19T15:03:24.437" v="59" actId="20577"/>
          <ac:spMkLst>
            <pc:docMk/>
            <pc:sldMk cId="4123072509" sldId="260"/>
            <ac:spMk id="2" creationId="{6C1F1819-C21F-981C-EA28-80D448B77B02}"/>
          </ac:spMkLst>
        </pc:spChg>
        <pc:spChg chg="add mod">
          <ac:chgData name="Graupmann, Evan T. (The Mitre Corporation)" userId="c365d081-cef7-418b-a482-27450d324d33" providerId="ADAL" clId="{DB92BFBF-A000-4592-BF19-6CF3F69F0999}" dt="2026-08-19T15:16:40.124" v="398" actId="1076"/>
          <ac:spMkLst>
            <pc:docMk/>
            <pc:sldMk cId="4123072509" sldId="260"/>
            <ac:spMk id="4" creationId="{A14245B8-DB09-5008-D014-D148C174BB1D}"/>
          </ac:spMkLst>
        </pc:spChg>
        <pc:spChg chg="add mod">
          <ac:chgData name="Graupmann, Evan T. (The Mitre Corporation)" userId="c365d081-cef7-418b-a482-27450d324d33" providerId="ADAL" clId="{DB92BFBF-A000-4592-BF19-6CF3F69F0999}" dt="2026-08-19T15:44:36.418" v="881" actId="1076"/>
          <ac:spMkLst>
            <pc:docMk/>
            <pc:sldMk cId="4123072509" sldId="260"/>
            <ac:spMk id="6" creationId="{3B0E73F7-6B9E-9BC2-DB1F-B69A336B8D57}"/>
          </ac:spMkLst>
        </pc:spChg>
        <pc:picChg chg="add mod">
          <ac:chgData name="Graupmann, Evan T. (The Mitre Corporation)" userId="c365d081-cef7-418b-a482-27450d324d33" providerId="ADAL" clId="{DB92BFBF-A000-4592-BF19-6CF3F69F0999}" dt="2026-08-19T15:16:04.003" v="389" actId="1076"/>
          <ac:picMkLst>
            <pc:docMk/>
            <pc:sldMk cId="4123072509" sldId="260"/>
            <ac:picMk id="3" creationId="{2453C0D1-2BDE-14FA-DC73-4DF8A9D12FA6}"/>
          </ac:picMkLst>
        </pc:picChg>
        <pc:picChg chg="add mod ord">
          <ac:chgData name="Graupmann, Evan T. (The Mitre Corporation)" userId="c365d081-cef7-418b-a482-27450d324d33" providerId="ADAL" clId="{DB92BFBF-A000-4592-BF19-6CF3F69F0999}" dt="2026-08-19T15:16:14.515" v="392" actId="1076"/>
          <ac:picMkLst>
            <pc:docMk/>
            <pc:sldMk cId="4123072509" sldId="260"/>
            <ac:picMk id="5" creationId="{C76C25D2-794E-3BB0-F8E1-42958311BBA3}"/>
          </ac:picMkLst>
        </pc:picChg>
      </pc:sldChg>
      <pc:sldChg chg="new add del">
        <pc:chgData name="Graupmann, Evan T. (The Mitre Corporation)" userId="c365d081-cef7-418b-a482-27450d324d33" providerId="ADAL" clId="{DB92BFBF-A000-4592-BF19-6CF3F69F0999}" dt="2026-08-19T16:38:34.677" v="886" actId="47"/>
        <pc:sldMkLst>
          <pc:docMk/>
          <pc:sldMk cId="1937487895" sldId="261"/>
        </pc:sldMkLst>
      </pc:sldChg>
      <pc:sldChg chg="addSp delSp modSp add mod">
        <pc:chgData name="Graupmann, Evan T. (The Mitre Corporation)" userId="c365d081-cef7-418b-a482-27450d324d33" providerId="ADAL" clId="{DB92BFBF-A000-4592-BF19-6CF3F69F0999}" dt="2026-08-19T16:42:06.115" v="1149" actId="20577"/>
        <pc:sldMkLst>
          <pc:docMk/>
          <pc:sldMk cId="3566664729" sldId="262"/>
        </pc:sldMkLst>
        <pc:spChg chg="mod">
          <ac:chgData name="Graupmann, Evan T. (The Mitre Corporation)" userId="c365d081-cef7-418b-a482-27450d324d33" providerId="ADAL" clId="{DB92BFBF-A000-4592-BF19-6CF3F69F0999}" dt="2026-08-19T16:39:00.430" v="938" actId="20577"/>
          <ac:spMkLst>
            <pc:docMk/>
            <pc:sldMk cId="3566664729" sldId="262"/>
            <ac:spMk id="2" creationId="{77E360C3-E3FD-4E83-7E15-14110C505F90}"/>
          </ac:spMkLst>
        </pc:spChg>
        <pc:spChg chg="del mod">
          <ac:chgData name="Graupmann, Evan T. (The Mitre Corporation)" userId="c365d081-cef7-418b-a482-27450d324d33" providerId="ADAL" clId="{DB92BFBF-A000-4592-BF19-6CF3F69F0999}" dt="2026-08-19T16:38:37.989" v="890" actId="478"/>
          <ac:spMkLst>
            <pc:docMk/>
            <pc:sldMk cId="3566664729" sldId="262"/>
            <ac:spMk id="4" creationId="{1308C429-ECAA-E779-A58C-58FFD7418DCB}"/>
          </ac:spMkLst>
        </pc:spChg>
        <pc:spChg chg="del">
          <ac:chgData name="Graupmann, Evan T. (The Mitre Corporation)" userId="c365d081-cef7-418b-a482-27450d324d33" providerId="ADAL" clId="{DB92BFBF-A000-4592-BF19-6CF3F69F0999}" dt="2026-08-19T16:38:39.361" v="891" actId="478"/>
          <ac:spMkLst>
            <pc:docMk/>
            <pc:sldMk cId="3566664729" sldId="262"/>
            <ac:spMk id="6" creationId="{CFA8434C-D690-9A04-7D31-626461B5AB9A}"/>
          </ac:spMkLst>
        </pc:spChg>
        <pc:spChg chg="add del mod">
          <ac:chgData name="Graupmann, Evan T. (The Mitre Corporation)" userId="c365d081-cef7-418b-a482-27450d324d33" providerId="ADAL" clId="{DB92BFBF-A000-4592-BF19-6CF3F69F0999}" dt="2026-08-19T16:40:22.715" v="947"/>
          <ac:spMkLst>
            <pc:docMk/>
            <pc:sldMk cId="3566664729" sldId="262"/>
            <ac:spMk id="10" creationId="{4BD06657-67A1-CCBD-23CF-7F7DEEEE8032}"/>
          </ac:spMkLst>
        </pc:spChg>
        <pc:spChg chg="add mod">
          <ac:chgData name="Graupmann, Evan T. (The Mitre Corporation)" userId="c365d081-cef7-418b-a482-27450d324d33" providerId="ADAL" clId="{DB92BFBF-A000-4592-BF19-6CF3F69F0999}" dt="2026-08-19T16:42:06.115" v="1149" actId="20577"/>
          <ac:spMkLst>
            <pc:docMk/>
            <pc:sldMk cId="3566664729" sldId="262"/>
            <ac:spMk id="14" creationId="{58382BA0-D9AB-F1CA-E164-43E69B3CE759}"/>
          </ac:spMkLst>
        </pc:spChg>
        <pc:graphicFrameChg chg="add mod">
          <ac:chgData name="Graupmann, Evan T. (The Mitre Corporation)" userId="c365d081-cef7-418b-a482-27450d324d33" providerId="ADAL" clId="{DB92BFBF-A000-4592-BF19-6CF3F69F0999}" dt="2026-08-19T16:39:37.819" v="940"/>
          <ac:graphicFrameMkLst>
            <pc:docMk/>
            <pc:sldMk cId="3566664729" sldId="262"/>
            <ac:graphicFrameMk id="7" creationId="{F18F85A9-65E6-198C-BDF0-8C0BA9BC5161}"/>
          </ac:graphicFrameMkLst>
        </pc:graphicFrameChg>
        <pc:graphicFrameChg chg="add mod">
          <ac:chgData name="Graupmann, Evan T. (The Mitre Corporation)" userId="c365d081-cef7-418b-a482-27450d324d33" providerId="ADAL" clId="{DB92BFBF-A000-4592-BF19-6CF3F69F0999}" dt="2026-08-19T16:40:29.572" v="949"/>
          <ac:graphicFrameMkLst>
            <pc:docMk/>
            <pc:sldMk cId="3566664729" sldId="262"/>
            <ac:graphicFrameMk id="11" creationId="{F18F85A9-65E6-198C-BDF0-8C0BA9BC5161}"/>
          </ac:graphicFrameMkLst>
        </pc:graphicFrameChg>
        <pc:picChg chg="del">
          <ac:chgData name="Graupmann, Evan T. (The Mitre Corporation)" userId="c365d081-cef7-418b-a482-27450d324d33" providerId="ADAL" clId="{DB92BFBF-A000-4592-BF19-6CF3F69F0999}" dt="2026-08-19T16:38:35.799" v="887" actId="478"/>
          <ac:picMkLst>
            <pc:docMk/>
            <pc:sldMk cId="3566664729" sldId="262"/>
            <ac:picMk id="3" creationId="{8DEA96BE-70A1-E9B1-9C58-11E5F0197145}"/>
          </ac:picMkLst>
        </pc:picChg>
        <pc:picChg chg="del">
          <ac:chgData name="Graupmann, Evan T. (The Mitre Corporation)" userId="c365d081-cef7-418b-a482-27450d324d33" providerId="ADAL" clId="{DB92BFBF-A000-4592-BF19-6CF3F69F0999}" dt="2026-08-19T16:38:36.360" v="888" actId="478"/>
          <ac:picMkLst>
            <pc:docMk/>
            <pc:sldMk cId="3566664729" sldId="262"/>
            <ac:picMk id="5" creationId="{90F6C030-0A84-C7C3-8671-005153F7863F}"/>
          </ac:picMkLst>
        </pc:picChg>
        <pc:picChg chg="add del mod modCrop">
          <ac:chgData name="Graupmann, Evan T. (The Mitre Corporation)" userId="c365d081-cef7-418b-a482-27450d324d33" providerId="ADAL" clId="{DB92BFBF-A000-4592-BF19-6CF3F69F0999}" dt="2026-08-19T16:40:22.714" v="945" actId="478"/>
          <ac:picMkLst>
            <pc:docMk/>
            <pc:sldMk cId="3566664729" sldId="262"/>
            <ac:picMk id="9" creationId="{327B7518-BCB4-98D7-8C86-3467A0FB8694}"/>
          </ac:picMkLst>
        </pc:picChg>
        <pc:picChg chg="add mod modCrop">
          <ac:chgData name="Graupmann, Evan T. (The Mitre Corporation)" userId="c365d081-cef7-418b-a482-27450d324d33" providerId="ADAL" clId="{DB92BFBF-A000-4592-BF19-6CF3F69F0999}" dt="2026-08-19T16:40:43.986" v="952" actId="1076"/>
          <ac:picMkLst>
            <pc:docMk/>
            <pc:sldMk cId="3566664729" sldId="262"/>
            <ac:picMk id="13" creationId="{60E5E674-D18D-39A8-E990-C7B00CEC0B2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8AE2F-91E8-D083-AD1A-20497F66C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72E57-3977-935A-EAAF-E736FEEC3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AA340-680C-1AA1-0F43-427DC5659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71FAC-0A23-4E8A-8383-968C34C817E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AC56D-1B5A-2381-4D5E-7609839E3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5D062-24FD-12C9-1E55-14773EF6C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7306-F154-4DAC-9C32-A37CAD1B5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3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9D518-65CD-D873-AF4D-E7F141612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D8CDB-8C98-7B54-7FF5-27FC81A9F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CB594-C178-E307-E2E5-020CFACDD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71FAC-0A23-4E8A-8383-968C34C817E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613A7-540D-BF00-9236-7CBA60366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21DFB-A148-B11E-0423-C3A65CDF8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7306-F154-4DAC-9C32-A37CAD1B5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7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C195E-B930-DF42-5815-809A99874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8E2F0-C420-C3DD-0099-20ADBB04C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83CD3-1643-CC1D-E25C-CD46C3171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71FAC-0A23-4E8A-8383-968C34C817E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1F22D-453A-1B8A-259B-FA0CC31FC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69D-5199-C9D4-23F8-BE25B8673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7306-F154-4DAC-9C32-A37CAD1B5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94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B594B-81EB-D9DF-8E78-0E8222BB0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92293-94DB-57E4-BBD6-29B809738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B3434-7ADC-C21E-A9C6-6339875AD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1F7EF-A1A8-19FD-C5FA-D98337073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71FAC-0A23-4E8A-8383-968C34C817E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76EF3-4B42-C137-3E5D-99F54FC07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5EF70-DA8E-2169-697A-19A25F7A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7306-F154-4DAC-9C32-A37CAD1B5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91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8B5ED-E826-95A3-9097-68AD9C52D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65CFF-28DD-8097-1ACF-7A2F0C59F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49119-97C3-E1F1-C249-BBD925E70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405B01-C5F2-23BB-002C-3F71BE599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969962-2B62-856A-6BB6-9667AC507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B6851-C12D-61CB-0B3E-2041FBB1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71FAC-0A23-4E8A-8383-968C34C817E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5226AC-239D-4231-B26F-C8DA76D25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1B2A3C-3BDD-94A2-4227-B4A619F1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7306-F154-4DAC-9C32-A37CAD1B5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46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FEC4-4A98-1F73-B027-1C87B114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BDBD5-5E6F-5B5D-08F4-198B67E6E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71FAC-0A23-4E8A-8383-968C34C817E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71EB96-6844-1744-B906-F785CF8F9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6D39F-0121-A49E-2EFD-53584C24D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7306-F154-4DAC-9C32-A37CAD1B5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54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54C42-7864-45B2-3B7F-65D73CDA2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71FAC-0A23-4E8A-8383-968C34C817E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A5AFC9-73E1-E7BA-3D8D-A8737504F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8F636-E9BF-7AB4-9D90-6EEA89E1B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7306-F154-4DAC-9C32-A37CAD1B5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77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A53DC-DB37-94DC-082A-48065CF94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4A373-3ABD-4350-E99F-693C53A34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6B2D9-903C-BFB9-203C-C432DBD01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2D37D-6D86-A37E-4812-640F5B42C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71FAC-0A23-4E8A-8383-968C34C817E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11620-CFAE-C964-5688-C5C4F8C40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BDF73-7B34-D6B2-22FA-9635911E5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7306-F154-4DAC-9C32-A37CAD1B5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56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7F8B9-9402-B481-2839-306CFC5C1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24DC8A-D448-2BFA-337F-30508CFF81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548D2-521A-837C-7AE7-284A29A0C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9292F-9B21-023D-297D-0861A3A03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71FAC-0A23-4E8A-8383-968C34C817E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2F66D-D834-30C9-8FDE-9D5CF3810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995A8-16F4-9CE4-7767-32A0C71D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7306-F154-4DAC-9C32-A37CAD1B5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674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6806-6CF5-1D77-DF6E-A279D22F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2DC21-B5CC-FD7A-00E5-FA01EC74B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5A958-9895-8025-0964-26CFA203D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71FAC-0A23-4E8A-8383-968C34C817E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D1F29-5332-E016-1284-D54D69F56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F574F-C237-522C-4A58-F58B7097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7306-F154-4DAC-9C32-A37CAD1B5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1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281994-A771-15EB-72D1-154FF3A99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38F7B-DE9F-9C1F-A4A4-08E2EFFE9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D1B5F-EAB3-529F-A142-F6C26CE25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71FAC-0A23-4E8A-8383-968C34C817E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A3BD1-6E76-C002-7D4F-F2811DF95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AC207-7404-8842-7DD6-2C227D6E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C7306-F154-4DAC-9C32-A37CAD1B5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43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E77089-153A-DC6C-AC2C-297E4E9FC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AAF5B-9B4F-0204-923F-34E9B7526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1B541-6CEF-D664-7548-ED79FA81E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471FAC-0A23-4E8A-8383-968C34C817EF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98CC4-9987-09A3-59C7-60DAE32EF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EDEAC-948E-CD31-20D6-4A44AFB46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1C7306-F154-4DAC-9C32-A37CAD1B5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3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31CA-C53A-F1FD-857F-EED5719F20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Acupuncture Usage per Patient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20018-C4C6-241A-B316-C926327D1A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Only includes acupuncture visits administered in VA facilities</a:t>
            </a:r>
          </a:p>
        </p:txBody>
      </p:sp>
    </p:spTree>
    <p:extLst>
      <p:ext uri="{BB962C8B-B14F-4D97-AF65-F5344CB8AC3E}">
        <p14:creationId xmlns:p14="http://schemas.microsoft.com/office/powerpoint/2010/main" val="3069038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9189BDD-C0E1-C5AE-2596-97F438B2E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1119990"/>
            <a:ext cx="6193122" cy="3657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F2463C-7551-162F-7108-8A054F511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rmAutofit/>
          </a:bodyPr>
          <a:lstStyle/>
          <a:p>
            <a:r>
              <a:rPr lang="en-US" sz="3200" dirty="0"/>
              <a:t>Acupuncture Usage per Patient by FY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F86787-9FF9-6307-1028-909768A4647F}"/>
              </a:ext>
            </a:extLst>
          </p:cNvPr>
          <p:cNvSpPr txBox="1"/>
          <p:nvPr/>
        </p:nvSpPr>
        <p:spPr>
          <a:xfrm>
            <a:off x="2320608" y="5008478"/>
            <a:ext cx="67376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Acupuncture has some extreme usage outliers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QA’d some highest usage patients and they seem to be real people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expected, average BFA usage per patient is lower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12808C-1923-5096-1E1B-B2783728F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5" y="1119990"/>
            <a:ext cx="6137328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268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C2217-8D78-A1CB-7098-5DC16ADF3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035B88D-0F61-815B-1E2E-320386AD1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816" y="1333500"/>
            <a:ext cx="5753901" cy="3474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71832A-3F6B-CC14-DAAA-F026A5804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rmAutofit/>
          </a:bodyPr>
          <a:lstStyle/>
          <a:p>
            <a:r>
              <a:rPr lang="en-US" sz="3600" dirty="0"/>
              <a:t>Acupuncture Usage per Patient by FY </a:t>
            </a:r>
            <a:r>
              <a:rPr lang="en-US" sz="3200" dirty="0"/>
              <a:t>– </a:t>
            </a:r>
            <a:r>
              <a:rPr lang="en-US" sz="2200" dirty="0"/>
              <a:t>removed outliers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21CF3-423D-8E42-F3E1-8CE3D0FC9DC7}"/>
              </a:ext>
            </a:extLst>
          </p:cNvPr>
          <p:cNvSpPr txBox="1"/>
          <p:nvPr/>
        </p:nvSpPr>
        <p:spPr>
          <a:xfrm>
            <a:off x="577533" y="5086851"/>
            <a:ext cx="3241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Usage per patient has remained consistent by FY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C23632-88FC-1F7C-B36B-1A292BB3F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83" y="1333500"/>
            <a:ext cx="5830462" cy="34747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2D9F44-C8D4-A7A0-AFEB-9183CEB33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782750"/>
            <a:ext cx="3381375" cy="206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395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9F29A-C2EA-A61A-07DE-DB24B3A71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631F96-98E0-7CDD-25C2-C8BF5F77D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265" y="1160858"/>
            <a:ext cx="6193122" cy="3657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3C1866-7220-8C6D-479D-B85F561B1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897" y="365125"/>
            <a:ext cx="11221127" cy="886159"/>
          </a:xfrm>
        </p:spPr>
        <p:txBody>
          <a:bodyPr>
            <a:normAutofit/>
          </a:bodyPr>
          <a:lstStyle/>
          <a:p>
            <a:r>
              <a:rPr lang="en-US" sz="3600" dirty="0"/>
              <a:t>Acupuncture Usage per Patient </a:t>
            </a:r>
            <a:r>
              <a:rPr lang="en-US" sz="3200" dirty="0"/>
              <a:t>– </a:t>
            </a:r>
            <a:r>
              <a:rPr lang="en-US" sz="2200" dirty="0"/>
              <a:t>only return patients &amp; no outliers displayed</a:t>
            </a: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BDC90B-8400-E912-4471-F009A5F36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316" y="4818458"/>
            <a:ext cx="3292421" cy="1962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FB77B2-CC08-EE4F-2F97-D657C37BB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" y="1160858"/>
            <a:ext cx="6137328" cy="3657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691612-39B4-9045-7C90-1D197E8A4EB2}"/>
              </a:ext>
            </a:extLst>
          </p:cNvPr>
          <p:cNvSpPr txBox="1"/>
          <p:nvPr/>
        </p:nvSpPr>
        <p:spPr>
          <a:xfrm>
            <a:off x="408897" y="5014026"/>
            <a:ext cx="7153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377,000 patients who have received acupuncture treatment (any variety) at a VH facility since FY21. Of those, 262,000 had at least 1 return encounter (69%). The actual return rate may be higher if patients began seeking treatment at community care facilities </a:t>
            </a:r>
          </a:p>
        </p:txBody>
      </p:sp>
    </p:spTree>
    <p:extLst>
      <p:ext uri="{BB962C8B-B14F-4D97-AF65-F5344CB8AC3E}">
        <p14:creationId xmlns:p14="http://schemas.microsoft.com/office/powerpoint/2010/main" val="3320952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6C25D2-794E-3BB0-F8E1-42958311B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489" y="1178160"/>
            <a:ext cx="4114800" cy="411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1F1819-C21F-981C-EA28-80D448B77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9446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Average Time between Traditional Acupuncture Visits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53C0D1-2BDE-14FA-DC73-4DF8A9D12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35" y="1178160"/>
            <a:ext cx="4121774" cy="411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4245B8-DB09-5008-D014-D148C174BB1D}"/>
              </a:ext>
            </a:extLst>
          </p:cNvPr>
          <p:cNvSpPr txBox="1"/>
          <p:nvPr/>
        </p:nvSpPr>
        <p:spPr>
          <a:xfrm>
            <a:off x="8601076" y="1942898"/>
            <a:ext cx="34575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Excludes outliers and times between visits &gt;365 days (assumed to be different events for treatment)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Median time between encounters is 30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accounts for traditional acupuncture encounters at VA facilities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0E73F7-6B9E-9BC2-DB1F-B69A336B8D57}"/>
              </a:ext>
            </a:extLst>
          </p:cNvPr>
          <p:cNvSpPr txBox="1"/>
          <p:nvPr/>
        </p:nvSpPr>
        <p:spPr>
          <a:xfrm>
            <a:off x="704850" y="5907320"/>
            <a:ext cx="10538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really relevant for this slide but 52% of patients 1</a:t>
            </a:r>
            <a:r>
              <a:rPr lang="en-US" baseline="30000" dirty="0"/>
              <a:t>st</a:t>
            </a:r>
            <a:r>
              <a:rPr lang="en-US" dirty="0"/>
              <a:t> receiving BFA later receive traditional acupuncture</a:t>
            </a:r>
          </a:p>
        </p:txBody>
      </p:sp>
    </p:spTree>
    <p:extLst>
      <p:ext uri="{BB962C8B-B14F-4D97-AF65-F5344CB8AC3E}">
        <p14:creationId xmlns:p14="http://schemas.microsoft.com/office/powerpoint/2010/main" val="4123072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21307-8091-4B4B-CCE1-AFDE69D3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60C3-E3FD-4E83-7E15-14110C505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94469"/>
            <a:ext cx="10515600" cy="872332"/>
          </a:xfrm>
        </p:spPr>
        <p:txBody>
          <a:bodyPr>
            <a:normAutofit/>
          </a:bodyPr>
          <a:lstStyle/>
          <a:p>
            <a:r>
              <a:rPr lang="en-US" sz="3600" dirty="0"/>
              <a:t>ICD10 Codes Associated with Acupuncture Visits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0E5E674-D18D-39A8-E990-C7B00CEC0B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902"/>
          <a:stretch>
            <a:fillRect/>
          </a:stretch>
        </p:blipFill>
        <p:spPr>
          <a:xfrm>
            <a:off x="609600" y="926368"/>
            <a:ext cx="5158731" cy="51576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8382BA0-D9AB-F1CA-E164-43E69B3CE759}"/>
              </a:ext>
            </a:extLst>
          </p:cNvPr>
          <p:cNvSpPr txBox="1"/>
          <p:nvPr/>
        </p:nvSpPr>
        <p:spPr>
          <a:xfrm>
            <a:off x="5867401" y="926368"/>
            <a:ext cx="594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Shows ICD10 codes that appear in at least 1% of acupuncture encounters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ICD10 codes not shown represent 40% of the total ICD10 codes associated with </a:t>
            </a:r>
            <a:r>
              <a:rPr lang="en-US"/>
              <a:t>acupuncture visits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664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95f1b23-abaf-45ee-821d-b7ab251ab3bf}" enabled="0" method="" siteId="{e95f1b23-abaf-45ee-821d-b7ab251ab3b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217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Acupuncture Usage per Patient</vt:lpstr>
      <vt:lpstr>Acupuncture Usage per Patient by FY</vt:lpstr>
      <vt:lpstr>Acupuncture Usage per Patient by FY – removed outliers</vt:lpstr>
      <vt:lpstr>Acupuncture Usage per Patient – only return patients &amp; no outliers displayed</vt:lpstr>
      <vt:lpstr>Average Time between Traditional Acupuncture Visits</vt:lpstr>
      <vt:lpstr>ICD10 Codes Associated with Acupuncture Visits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Graupmann, Evan T. (The Mitre Corporation)</dc:creator>
  <cp:lastModifiedBy>Graupmann, Evan T. (The Mitre Corporation)</cp:lastModifiedBy>
  <cp:revision>1</cp:revision>
  <dcterms:created xsi:type="dcterms:W3CDTF">2026-08-19T13:22:00Z</dcterms:created>
  <dcterms:modified xsi:type="dcterms:W3CDTF">2026-08-19T16:42:15Z</dcterms:modified>
</cp:coreProperties>
</file>